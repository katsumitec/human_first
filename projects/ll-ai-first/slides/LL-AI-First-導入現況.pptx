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7559675" cy="106918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669"/>
  </p:normalViewPr>
  <p:slideViewPr>
    <p:cSldViewPr snapToGrid="0">
      <p:cViewPr varScale="1">
        <p:scale>
          <a:sx n="135" d="100"/>
          <a:sy n="135" d="100"/>
        </p:scale>
        <p:origin x="53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D18C5E6-B274-4F89-8ED5-330E2799B82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697310-A5B1-4942-B921-B0793D4D5A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111147-FAB3-4061-8EE8-6617413486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8A7B9D-FD9F-4214-A925-8B9596C4C5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00F034-7C18-42B0-9411-76B27B8563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A87E9D-A3CD-407B-9180-FC3527E5BD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7C83F-9A76-4F0C-B906-C3DA59A619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C6BFE7-4E61-496C-B871-1CDF0C59F6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BEFBFE-EF4A-420D-B398-29BF21356E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40C9C9-9A81-494A-B0D3-B916260513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C78458-9B0E-49AC-9294-4635578E39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9493BF-ADCD-4D31-9BB3-8A14C6217C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C2765B-A4C7-477B-AE35-DC436B92F4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1B3229-E385-464F-8D55-CF01054ECC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891FCC-0CF2-4963-A07A-0A393FD34A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0D38BC-6CEC-440D-AD4C-396F831B79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9D7E4A-7551-47D9-BC1A-AE648E70B0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8778240" y="-2194560"/>
            <a:ext cx="5668920" cy="5668920"/>
          </a:xfrm>
          <a:prstGeom prst="ellipse">
            <a:avLst/>
          </a:prstGeom>
          <a:solidFill>
            <a:srgbClr val="1436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10241280" y="3291840"/>
            <a:ext cx="3840120" cy="3840120"/>
          </a:xfrm>
          <a:prstGeom prst="ellipse">
            <a:avLst/>
          </a:prstGeom>
          <a:solidFill>
            <a:srgbClr val="184E7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9875520" y="822960"/>
            <a:ext cx="822600" cy="822600"/>
          </a:xfrm>
          <a:prstGeom prst="ellipse">
            <a:avLst/>
          </a:prstGeom>
          <a:solidFill>
            <a:srgbClr val="37C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777240" y="1783080"/>
            <a:ext cx="1554120" cy="310680"/>
          </a:xfrm>
          <a:prstGeom prst="rect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100" b="1" u="none" strike="noStrike" spc="99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工作流導入現況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731520" y="22402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56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樂力專案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749880" y="324612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30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工作流導入現況總覽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777240" y="4160520"/>
            <a:ext cx="2743200" cy="360"/>
          </a:xfrm>
          <a:prstGeom prst="line">
            <a:avLst/>
          </a:prstGeom>
          <a:ln w="31680">
            <a:solidFill>
              <a:srgbClr val="37C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777240" y="43434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渠道對接　</a:t>
            </a:r>
            <a:r>
              <a:rPr lang="en-US" sz="16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·</a:t>
            </a:r>
            <a:r>
              <a:rPr lang="zh-CN" sz="16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　既有專案維運　</a:t>
            </a:r>
            <a:r>
              <a:rPr lang="en-US" sz="16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·</a:t>
            </a:r>
            <a:r>
              <a:rPr lang="zh-CN" sz="16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　</a:t>
            </a:r>
            <a:r>
              <a:rPr lang="en-US" sz="16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6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客服機器人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777240" y="59893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2026 </a:t>
            </a:r>
            <a:r>
              <a:rPr lang="zh-CN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年 </a:t>
            </a:r>
            <a:r>
              <a:rPr lang="en-US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6 </a:t>
            </a:r>
            <a:r>
              <a:rPr lang="zh-CN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月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640080" y="420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OVERVIEW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三大導入主軸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640080" y="1691640"/>
            <a:ext cx="10926720" cy="132552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640080" y="1691640"/>
            <a:ext cx="82080" cy="1325520"/>
          </a:xfrm>
          <a:prstGeom prst="rect">
            <a:avLst/>
          </a:prstGeom>
          <a:solidFill>
            <a:srgbClr val="37C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868680" y="1691640"/>
            <a:ext cx="118836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01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2194560" y="1892880"/>
            <a:ext cx="9052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渠道對接相關專案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2194560" y="2350080"/>
            <a:ext cx="9097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channels / ll-chnl / ll-chnl-reverse 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構成「底層交互 → 正向對接 → 反向校正」的閉環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自動產出渠道規格與轉換模板。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640080" y="3209400"/>
            <a:ext cx="10926720" cy="132552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640080" y="3209400"/>
            <a:ext cx="82080" cy="1325520"/>
          </a:xfrm>
          <a:prstGeom prst="rect">
            <a:avLst/>
          </a:prstGeom>
          <a:solidFill>
            <a:srgbClr val="37C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868680" y="3209400"/>
            <a:ext cx="118836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02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2194560" y="3410640"/>
            <a:ext cx="9052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樂力既有專案維運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2194560" y="3867840"/>
            <a:ext cx="9097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以 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multipay 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系列為核心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讓 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由 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Issue 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接單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定位並增修既有龐大專案集的程式碼。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640080" y="4727520"/>
            <a:ext cx="10926720" cy="132552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3"/>
          <p:cNvSpPr/>
          <p:nvPr/>
        </p:nvSpPr>
        <p:spPr>
          <a:xfrm>
            <a:off x="640080" y="4727520"/>
            <a:ext cx="82080" cy="1325520"/>
          </a:xfrm>
          <a:prstGeom prst="rect">
            <a:avLst/>
          </a:prstGeom>
          <a:solidFill>
            <a:srgbClr val="37C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868680" y="4727520"/>
            <a:ext cx="118836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03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2194560" y="4928760"/>
            <a:ext cx="9052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樂力 </a:t>
            </a:r>
            <a:r>
              <a:rPr lang="en-US" sz="21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21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客服機器人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2194560" y="5385960"/>
            <a:ext cx="9097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解決查單、催單等客服場景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;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評估通用智能體框架與自建 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Harness 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兩條技術路線。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640080" y="420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EXECUTIVE SUMMARY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導入綜述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640080" y="1645920"/>
            <a:ext cx="3501720" cy="1691280"/>
          </a:xfrm>
          <a:prstGeom prst="rect">
            <a:avLst/>
          </a:prstGeom>
          <a:solidFill>
            <a:srgbClr val="0E2A47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731520" y="1783080"/>
            <a:ext cx="3291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3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731520" y="26701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大導入主軸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731520" y="29901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渠道、維運、客服全面試行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4352400" y="1645920"/>
            <a:ext cx="3501720" cy="1691280"/>
          </a:xfrm>
          <a:prstGeom prst="rect">
            <a:avLst/>
          </a:prstGeom>
          <a:solidFill>
            <a:srgbClr val="0E2A47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4443840" y="1783080"/>
            <a:ext cx="3291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7+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4443840" y="26701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個專案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4443840" y="29901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涵蓋既有 </a:t>
            </a:r>
            <a:r>
              <a:rPr lang="en-US" sz="11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Java </a:t>
            </a:r>
            <a:r>
              <a:rPr lang="zh-CN" sz="11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與新建 </a:t>
            </a:r>
            <a:r>
              <a:rPr lang="en-US" sz="11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1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服務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8065080" y="1645920"/>
            <a:ext cx="3501720" cy="1691280"/>
          </a:xfrm>
          <a:prstGeom prst="rect">
            <a:avLst/>
          </a:prstGeom>
          <a:solidFill>
            <a:srgbClr val="0E2A47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8156520" y="1783080"/>
            <a:ext cx="3291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AI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8156520" y="26701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接單到產出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8156520" y="29901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由 </a:t>
            </a:r>
            <a:r>
              <a:rPr lang="en-US" sz="11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GitLab Issue </a:t>
            </a:r>
            <a:r>
              <a:rPr lang="zh-CN" sz="11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自動驅動工作流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640080" y="37033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核心做法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640080" y="4114800"/>
            <a:ext cx="1092672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2A3A"/>
              </a:buClr>
              <a:buFont typeface="Symbol" charset="2"/>
              <a:buChar char=""/>
            </a:pP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以 </a:t>
            </a: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Claude Code 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為主要 </a:t>
            </a: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AI Agent,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搭配專屬 </a:t>
            </a: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Skills 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標準化分析、開發與測試流程。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2A3A"/>
              </a:buClr>
              <a:buFont typeface="Symbol" charset="2"/>
              <a:buChar char=""/>
            </a:pP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從 </a:t>
            </a: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GitLab Issue 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自動接單</a:t>
            </a: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讓 </a:t>
            </a: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完成需求分析、規格彙整、程式修改與模板產出。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2A3A"/>
              </a:buClr>
              <a:buFont typeface="Symbol" charset="2"/>
              <a:buChar char=""/>
            </a:pP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強調「先完整分析、再產出索引文件」</a:t>
            </a: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協助 </a:t>
            </a: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在龐大既有專案中快速定位目標。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2A3A"/>
              </a:buClr>
              <a:buFont typeface="Symbol" charset="2"/>
              <a:buChar char=""/>
            </a:pP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客服機器人並行評估通用框架與自建狀態機 </a:t>
            </a: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Harness,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以兼顧彈性與流程可控性。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-1645920" y="3657600"/>
            <a:ext cx="5028840" cy="5028840"/>
          </a:xfrm>
          <a:prstGeom prst="ellipse">
            <a:avLst/>
          </a:prstGeom>
          <a:solidFill>
            <a:srgbClr val="1436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10332720" y="-2011680"/>
            <a:ext cx="4205880" cy="4205880"/>
          </a:xfrm>
          <a:prstGeom prst="ellipse">
            <a:avLst/>
          </a:prstGeom>
          <a:solidFill>
            <a:srgbClr val="184E7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822960" y="1554480"/>
            <a:ext cx="36572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0" b="1" u="none" strike="noStrike">
                <a:solidFill>
                  <a:srgbClr val="14365C"/>
                </a:solidFill>
                <a:effectLst/>
                <a:uFillTx/>
                <a:latin typeface="PingFang TC"/>
                <a:ea typeface="PingFang TC"/>
              </a:rPr>
              <a:t>01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914400" y="30632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PART ONE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868680" y="338328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渠道對接相關專案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914400" y="4297680"/>
            <a:ext cx="2377440" cy="360"/>
          </a:xfrm>
          <a:prstGeom prst="line">
            <a:avLst/>
          </a:prstGeom>
          <a:ln w="31680">
            <a:solidFill>
              <a:srgbClr val="37C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914400" y="448056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channels</a:t>
            </a:r>
            <a:r>
              <a:rPr lang="zh-CN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、</a:t>
            </a:r>
            <a:r>
              <a:rPr lang="en-US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ll-chnl</a:t>
            </a:r>
            <a:r>
              <a:rPr lang="zh-CN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、</a:t>
            </a:r>
            <a:r>
              <a:rPr lang="en-US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ll-chnl-reverse </a:t>
            </a:r>
            <a:r>
              <a:rPr lang="zh-CN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三者構成渠道對接的閉環生態。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640080" y="420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PART 01 · </a:t>
            </a:r>
            <a:r>
              <a:rPr lang="zh-CN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渠道對接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三大專案定位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640080" y="1691640"/>
            <a:ext cx="3501720" cy="41601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640080" y="1691640"/>
            <a:ext cx="3501720" cy="109440"/>
          </a:xfrm>
          <a:prstGeom prst="rect">
            <a:avLst/>
          </a:prstGeom>
          <a:solidFill>
            <a:srgbClr val="184E7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896040" y="20574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84E7E"/>
                </a:solidFill>
                <a:effectLst/>
                <a:uFillTx/>
                <a:latin typeface="Courier New"/>
                <a:ea typeface="Courier New"/>
              </a:rPr>
              <a:t>channels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896040" y="25419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渠道通用底層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896040" y="2999160"/>
            <a:ext cx="1005840" cy="360"/>
          </a:xfrm>
          <a:prstGeom prst="line">
            <a:avLst/>
          </a:prstGeom>
          <a:ln w="19080">
            <a:solidFill>
              <a:srgbClr val="D5E1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896040" y="3154680"/>
            <a:ext cx="301716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核心基礎建設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(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既有 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Java Spring 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專案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)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。負責渠道通用的底層交互邏輯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提供穩定、標準化的傳輸與通訊基礎。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4352400" y="1691640"/>
            <a:ext cx="3501720" cy="41601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9"/>
          <p:cNvSpPr/>
          <p:nvPr/>
        </p:nvSpPr>
        <p:spPr>
          <a:xfrm>
            <a:off x="4352400" y="1691640"/>
            <a:ext cx="3501720" cy="109440"/>
          </a:xfrm>
          <a:prstGeom prst="rect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4608720" y="20574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F6FB8"/>
                </a:solidFill>
                <a:effectLst/>
                <a:uFillTx/>
                <a:latin typeface="Courier New"/>
                <a:ea typeface="Courier New"/>
              </a:rPr>
              <a:t>ll-chnl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4608720" y="25419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正向渠道對接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2"/>
          <p:cNvSpPr/>
          <p:nvPr/>
        </p:nvSpPr>
        <p:spPr>
          <a:xfrm>
            <a:off x="4608360" y="2999160"/>
            <a:ext cx="1005840" cy="360"/>
          </a:xfrm>
          <a:prstGeom prst="line">
            <a:avLst/>
          </a:prstGeom>
          <a:ln w="19080">
            <a:solidFill>
              <a:srgbClr val="D5E1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4608720" y="3154680"/>
            <a:ext cx="301716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業務對接與資料轉換核心。讀取需求並分析渠道文檔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對接接口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產出資料轉換模板與配置參數。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4"/>
          <p:cNvSpPr/>
          <p:nvPr/>
        </p:nvSpPr>
        <p:spPr>
          <a:xfrm>
            <a:off x="8065080" y="1691640"/>
            <a:ext cx="3501720" cy="41601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5"/>
          <p:cNvSpPr/>
          <p:nvPr/>
        </p:nvSpPr>
        <p:spPr>
          <a:xfrm>
            <a:off x="8065080" y="1691640"/>
            <a:ext cx="3501720" cy="109440"/>
          </a:xfrm>
          <a:prstGeom prst="rect">
            <a:avLst/>
          </a:prstGeom>
          <a:solidFill>
            <a:srgbClr val="37C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8321040" y="20574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F6FB8"/>
                </a:solidFill>
                <a:effectLst/>
                <a:uFillTx/>
                <a:latin typeface="Courier New"/>
                <a:ea typeface="Courier New"/>
              </a:rPr>
              <a:t>ll-chnl-reverse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7"/>
          <p:cNvSpPr/>
          <p:nvPr/>
        </p:nvSpPr>
        <p:spPr>
          <a:xfrm>
            <a:off x="8321040" y="25419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反向校正與生產輸出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8"/>
          <p:cNvSpPr/>
          <p:nvPr/>
        </p:nvSpPr>
        <p:spPr>
          <a:xfrm>
            <a:off x="8321040" y="2999160"/>
            <a:ext cx="1005840" cy="360"/>
          </a:xfrm>
          <a:prstGeom prst="line">
            <a:avLst/>
          </a:prstGeom>
          <a:ln w="19080">
            <a:solidFill>
              <a:srgbClr val="D5E1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9"/>
          <p:cNvSpPr/>
          <p:nvPr/>
        </p:nvSpPr>
        <p:spPr>
          <a:xfrm>
            <a:off x="8321040" y="3154680"/>
            <a:ext cx="301716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資料反向工程與品保工具。讀取測試環境調校後的資料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反向生成模板與 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SQL,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校正並訓練 </a:t>
            </a:r>
            <a:r>
              <a:rPr lang="en-US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ll-chnl,</a:t>
            </a:r>
            <a:r>
              <a:rPr lang="zh-CN" sz="13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產出生產初稿。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640080" y="420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PART 01 · </a:t>
            </a:r>
            <a:r>
              <a:rPr lang="zh-CN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渠道對接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閉環架構與資料流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640080" y="1417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「底層交互 → 正向對接 → 反向校正與生產輸出」的閉環生態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411480" y="2788920"/>
            <a:ext cx="1965600" cy="1096920"/>
          </a:xfrm>
          <a:prstGeom prst="roundRect">
            <a:avLst>
              <a:gd name="adj" fmla="val 6667"/>
            </a:avLst>
          </a:prstGeom>
          <a:solidFill>
            <a:srgbClr val="0E2A47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411480" y="2788920"/>
            <a:ext cx="1965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channels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渠道通用底層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2752200" y="2788920"/>
            <a:ext cx="1965600" cy="1096920"/>
          </a:xfrm>
          <a:prstGeom prst="roundRect">
            <a:avLst>
              <a:gd name="adj" fmla="val 6667"/>
            </a:avLst>
          </a:prstGeom>
          <a:solidFill>
            <a:srgbClr val="1F6FB8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2752200" y="2788920"/>
            <a:ext cx="1965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ll-chnl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正向渠道對接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7"/>
          <p:cNvSpPr/>
          <p:nvPr/>
        </p:nvSpPr>
        <p:spPr>
          <a:xfrm>
            <a:off x="5093280" y="2788920"/>
            <a:ext cx="1965600" cy="1096920"/>
          </a:xfrm>
          <a:prstGeom prst="roundRect">
            <a:avLst>
              <a:gd name="adj" fmla="val 6667"/>
            </a:avLst>
          </a:prstGeom>
          <a:solidFill>
            <a:srgbClr val="E5EEF7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5093280" y="2788920"/>
            <a:ext cx="1965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測試環境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資料表 </a:t>
            </a:r>
            <a:r>
              <a:rPr lang="en-US" sz="10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&amp; </a:t>
            </a:r>
            <a:r>
              <a:rPr lang="zh-CN" sz="10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調校參數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9"/>
          <p:cNvSpPr/>
          <p:nvPr/>
        </p:nvSpPr>
        <p:spPr>
          <a:xfrm>
            <a:off x="7434000" y="2788920"/>
            <a:ext cx="1965600" cy="1096920"/>
          </a:xfrm>
          <a:prstGeom prst="roundRect">
            <a:avLst>
              <a:gd name="adj" fmla="val 6667"/>
            </a:avLst>
          </a:prstGeom>
          <a:solidFill>
            <a:srgbClr val="37C0E8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7434000" y="2788920"/>
            <a:ext cx="1965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A47"/>
                </a:solidFill>
                <a:effectLst/>
                <a:uFillTx/>
                <a:latin typeface="PingFang TC"/>
                <a:ea typeface="PingFang TC"/>
              </a:rPr>
              <a:t>ll-chnl-reverse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0E2A47"/>
                </a:solidFill>
                <a:effectLst/>
                <a:uFillTx/>
                <a:latin typeface="PingFang TC"/>
                <a:ea typeface="PingFang TC"/>
              </a:rPr>
              <a:t>反向校正輸出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9775080" y="2788920"/>
            <a:ext cx="1965600" cy="1096920"/>
          </a:xfrm>
          <a:prstGeom prst="roundRect">
            <a:avLst>
              <a:gd name="adj" fmla="val 6667"/>
            </a:avLst>
          </a:prstGeom>
          <a:solidFill>
            <a:srgbClr val="E5EEF7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9775080" y="2788920"/>
            <a:ext cx="1965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生產環境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模板與參數初稿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3"/>
          <p:cNvSpPr/>
          <p:nvPr/>
        </p:nvSpPr>
        <p:spPr>
          <a:xfrm>
            <a:off x="2377440" y="3337560"/>
            <a:ext cx="374760" cy="360"/>
          </a:xfrm>
          <a:prstGeom prst="line">
            <a:avLst/>
          </a:prstGeom>
          <a:ln w="31680">
            <a:solidFill>
              <a:srgbClr val="0E2A47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1920240" y="228600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通用底層交互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5"/>
          <p:cNvSpPr/>
          <p:nvPr/>
        </p:nvSpPr>
        <p:spPr>
          <a:xfrm>
            <a:off x="4718160" y="3337560"/>
            <a:ext cx="374760" cy="360"/>
          </a:xfrm>
          <a:prstGeom prst="line">
            <a:avLst/>
          </a:prstGeom>
          <a:ln w="31680">
            <a:solidFill>
              <a:srgbClr val="1F6F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4215240" y="22860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① 對接轉換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7"/>
          <p:cNvSpPr/>
          <p:nvPr/>
        </p:nvSpPr>
        <p:spPr>
          <a:xfrm>
            <a:off x="7058880" y="3337560"/>
            <a:ext cx="375120" cy="360"/>
          </a:xfrm>
          <a:prstGeom prst="line">
            <a:avLst/>
          </a:prstGeom>
          <a:ln w="31680">
            <a:solidFill>
              <a:srgbClr val="1F6F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6556320" y="22860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② 讀取調校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9399960" y="3337560"/>
            <a:ext cx="374760" cy="360"/>
          </a:xfrm>
          <a:prstGeom prst="line">
            <a:avLst/>
          </a:prstGeom>
          <a:ln w="31680">
            <a:solidFill>
              <a:srgbClr val="1F6F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8897040" y="22860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④ 輸出部署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1"/>
          <p:cNvSpPr/>
          <p:nvPr/>
        </p:nvSpPr>
        <p:spPr>
          <a:xfrm>
            <a:off x="8416800" y="3886200"/>
            <a:ext cx="360" cy="822960"/>
          </a:xfrm>
          <a:prstGeom prst="line">
            <a:avLst/>
          </a:prstGeom>
          <a:ln w="31680">
            <a:solidFill>
              <a:srgbClr val="37C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2"/>
          <p:cNvSpPr/>
          <p:nvPr/>
        </p:nvSpPr>
        <p:spPr>
          <a:xfrm flipH="1">
            <a:off x="3735000" y="4709160"/>
            <a:ext cx="4681800" cy="360"/>
          </a:xfrm>
          <a:prstGeom prst="line">
            <a:avLst/>
          </a:prstGeom>
          <a:ln w="31680">
            <a:solidFill>
              <a:srgbClr val="37C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3"/>
          <p:cNvSpPr/>
          <p:nvPr/>
        </p:nvSpPr>
        <p:spPr>
          <a:xfrm flipV="1">
            <a:off x="3735000" y="3886200"/>
            <a:ext cx="360" cy="822960"/>
          </a:xfrm>
          <a:prstGeom prst="line">
            <a:avLst/>
          </a:prstGeom>
          <a:ln w="31680">
            <a:solidFill>
              <a:srgbClr val="37C0E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4"/>
          <p:cNvSpPr/>
          <p:nvPr/>
        </p:nvSpPr>
        <p:spPr>
          <a:xfrm>
            <a:off x="4572000" y="47548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84E7E"/>
                </a:solidFill>
                <a:effectLst/>
                <a:uFillTx/>
                <a:latin typeface="PingFang TC"/>
                <a:ea typeface="PingFang TC"/>
              </a:rPr>
              <a:t>③ 反向校正與訓練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06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640080" y="420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PART 01 · </a:t>
            </a:r>
            <a:r>
              <a:rPr lang="zh-CN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渠道對接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工作流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640080" y="1783080"/>
            <a:ext cx="3501720" cy="18741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868680" y="2039040"/>
            <a:ext cx="658080" cy="658080"/>
          </a:xfrm>
          <a:prstGeom prst="ellipse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868680" y="20390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1664280" y="20941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讀取需求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896040" y="28072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由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GitLab Issue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讀取開發需求</a:t>
            </a:r>
            <a:r>
              <a:rPr lang="zh-TW" alt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，並正規劃</a:t>
            </a:r>
            <a:r>
              <a:rPr lang="zh-TW" altLang="en-US" sz="1250" b="1" u="none" strike="noStrike">
                <a:solidFill>
                  <a:srgbClr val="002060"/>
                </a:solidFill>
                <a:effectLst/>
                <a:uFillTx/>
                <a:latin typeface="PingFang TC"/>
                <a:ea typeface="PingFang TC"/>
              </a:rPr>
              <a:t>需求規格</a:t>
            </a:r>
            <a:endParaRPr lang="en-US" sz="1250" b="1" u="none" strike="noStrike">
              <a:solidFill>
                <a:srgbClr val="00206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4352400" y="1783080"/>
            <a:ext cx="3501720" cy="18741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4581000" y="2039040"/>
            <a:ext cx="658080" cy="658080"/>
          </a:xfrm>
          <a:prstGeom prst="ellipse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4581000" y="20390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5376600" y="20941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彙整規格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4608720" y="28072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分析本地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/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線上渠道文檔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產出統一格式</a:t>
            </a:r>
            <a:r>
              <a:rPr lang="zh-CN" sz="1250" b="0" u="none" strike="noStrike">
                <a:solidFill>
                  <a:srgbClr val="002060"/>
                </a:solidFill>
                <a:effectLst/>
                <a:uFillTx/>
                <a:latin typeface="PingFang TC"/>
                <a:ea typeface="PingFang TC"/>
              </a:rPr>
              <a:t>規格</a:t>
            </a:r>
            <a:r>
              <a:rPr lang="zh-CN" altLang="en-US" sz="1250" b="0" u="none" strike="noStrike">
                <a:solidFill>
                  <a:srgbClr val="002060"/>
                </a:solidFill>
                <a:effectLst/>
                <a:uFillTx/>
                <a:latin typeface="PingFang TC"/>
                <a:ea typeface="PingFang TC"/>
              </a:rPr>
              <a:t>文檔</a:t>
            </a:r>
            <a:endParaRPr lang="en-US" sz="1250" b="0" u="none" strike="noStrike">
              <a:solidFill>
                <a:srgbClr val="00206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8065080" y="1783080"/>
            <a:ext cx="3501720" cy="18741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8293680" y="2039040"/>
            <a:ext cx="658080" cy="658080"/>
          </a:xfrm>
          <a:prstGeom prst="ellipse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8293680" y="20390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9089280" y="20941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產出模板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8321040" y="28072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依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Skill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生成報文轉換模板與參數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(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含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SQL)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640080" y="3886200"/>
            <a:ext cx="3501720" cy="18741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868680" y="4142160"/>
            <a:ext cx="658080" cy="658080"/>
          </a:xfrm>
          <a:prstGeom prst="ellipse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868680" y="414216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1664280" y="419724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參考底層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896040" y="491040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視需要參考或修改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channels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程式碼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2"/>
          <p:cNvSpPr/>
          <p:nvPr/>
        </p:nvSpPr>
        <p:spPr>
          <a:xfrm>
            <a:off x="4352400" y="3886200"/>
            <a:ext cx="3501720" cy="18741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3"/>
          <p:cNvSpPr/>
          <p:nvPr/>
        </p:nvSpPr>
        <p:spPr>
          <a:xfrm>
            <a:off x="4581000" y="4142160"/>
            <a:ext cx="658080" cy="658080"/>
          </a:xfrm>
          <a:prstGeom prst="ellipse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4"/>
          <p:cNvSpPr/>
          <p:nvPr/>
        </p:nvSpPr>
        <p:spPr>
          <a:xfrm>
            <a:off x="4581000" y="414216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5"/>
          <p:cNvSpPr/>
          <p:nvPr/>
        </p:nvSpPr>
        <p:spPr>
          <a:xfrm>
            <a:off x="5376600" y="419724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配置測試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6"/>
          <p:cNvSpPr/>
          <p:nvPr/>
        </p:nvSpPr>
        <p:spPr>
          <a:xfrm>
            <a:off x="4608720" y="491040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將成果配置至測試環境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7"/>
          <p:cNvSpPr/>
          <p:nvPr/>
        </p:nvSpPr>
        <p:spPr>
          <a:xfrm>
            <a:off x="8065080" y="3886200"/>
            <a:ext cx="3501720" cy="18741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8"/>
          <p:cNvSpPr/>
          <p:nvPr/>
        </p:nvSpPr>
        <p:spPr>
          <a:xfrm>
            <a:off x="8293680" y="4142160"/>
            <a:ext cx="658080" cy="658080"/>
          </a:xfrm>
          <a:prstGeom prst="ellipse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9"/>
          <p:cNvSpPr/>
          <p:nvPr/>
        </p:nvSpPr>
        <p:spPr>
          <a:xfrm>
            <a:off x="8293680" y="414216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0"/>
          <p:cNvSpPr/>
          <p:nvPr/>
        </p:nvSpPr>
        <p:spPr>
          <a:xfrm>
            <a:off x="9089280" y="419724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校正上線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1"/>
          <p:cNvSpPr/>
          <p:nvPr/>
        </p:nvSpPr>
        <p:spPr>
          <a:xfrm>
            <a:off x="8321040" y="491040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OP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驗證後由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reverse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產出生產初稿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2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640080" y="420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PART 01 · </a:t>
            </a:r>
            <a:r>
              <a:rPr lang="zh-CN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渠道對接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工具、挑戰與心得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640080" y="1691640"/>
            <a:ext cx="3748680" cy="4297320"/>
          </a:xfrm>
          <a:prstGeom prst="rect">
            <a:avLst/>
          </a:prstGeom>
          <a:solidFill>
            <a:srgbClr val="0E2A47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"/>
          <p:cNvSpPr/>
          <p:nvPr/>
        </p:nvSpPr>
        <p:spPr>
          <a:xfrm>
            <a:off x="914400" y="192024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使用工具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914400" y="23774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AI Agent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914400" y="267012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Claude Code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914400" y="30999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Skills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914400" y="3392280"/>
            <a:ext cx="329148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vibe-sdlc* (</a:t>
            </a:r>
            <a:r>
              <a:rPr lang="zh-CN" sz="1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系列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analyze-channel-api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analyze-channel-dev-requirement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channel-dev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git-workflow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run-sql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ll-kibana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ast-grep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agent-browser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playwright-cli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4572000" y="1691640"/>
            <a:ext cx="6949080" cy="201132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4572000" y="1691640"/>
            <a:ext cx="82080" cy="2011320"/>
          </a:xfrm>
          <a:prstGeom prst="rect">
            <a:avLst/>
          </a:prstGeom>
          <a:solidFill>
            <a:srgbClr val="E894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4846320" y="190188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C2701E"/>
                </a:solidFill>
                <a:effectLst/>
                <a:uFillTx/>
                <a:latin typeface="PingFang TC"/>
                <a:ea typeface="PingFang TC"/>
              </a:rPr>
              <a:t>主要挑戰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4846320" y="2286000"/>
            <a:ext cx="64918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5000"/>
              </a:lnSpc>
              <a:spcAft>
                <a:spcPts val="499"/>
              </a:spcAft>
              <a:buClr>
                <a:srgbClr val="1B2A3A"/>
              </a:buClr>
              <a:buFont typeface="Symbol" charset="2"/>
              <a:buChar char=""/>
            </a:pP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需整合跨專案邏輯、系統渠道規格、開發需求</a:t>
            </a: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以及外部渠道接口與規格。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5000"/>
              </a:lnSpc>
              <a:spcAft>
                <a:spcPts val="499"/>
              </a:spcAft>
              <a:buClr>
                <a:srgbClr val="1B2A3A"/>
              </a:buClr>
              <a:buFont typeface="Symbol" charset="2"/>
              <a:buChar char=""/>
            </a:pP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渠道文檔常不清或不全、線上文檔繁雜</a:t>
            </a: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甚至需登入授權才能存取。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>
            <a:off x="4572000" y="3886200"/>
            <a:ext cx="6949080" cy="21027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3"/>
          <p:cNvSpPr/>
          <p:nvPr/>
        </p:nvSpPr>
        <p:spPr>
          <a:xfrm>
            <a:off x="4572000" y="3886200"/>
            <a:ext cx="82080" cy="2102760"/>
          </a:xfrm>
          <a:prstGeom prst="rect">
            <a:avLst/>
          </a:prstGeom>
          <a:solidFill>
            <a:srgbClr val="37C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4846320" y="409644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導入心得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4846320" y="4480560"/>
            <a:ext cx="649188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5000"/>
              </a:lnSpc>
              <a:spcAft>
                <a:spcPts val="499"/>
              </a:spcAft>
              <a:buClr>
                <a:srgbClr val="1B2A3A"/>
              </a:buClr>
              <a:buFont typeface="Symbol" charset="2"/>
              <a:buChar char=""/>
            </a:pP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從渠道文檔分析出發</a:t>
            </a: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產出正規化的渠道開發規格。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5000"/>
              </a:lnSpc>
              <a:spcAft>
                <a:spcPts val="499"/>
              </a:spcAft>
              <a:buClr>
                <a:srgbClr val="1B2A3A"/>
              </a:buClr>
              <a:buFont typeface="Symbol" charset="2"/>
              <a:buChar char=""/>
            </a:pP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對接前先預先分析 </a:t>
            </a: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channels,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指示可參考的項目與修改重點。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-1645920" y="3657600"/>
            <a:ext cx="5028840" cy="5028840"/>
          </a:xfrm>
          <a:prstGeom prst="ellipse">
            <a:avLst/>
          </a:prstGeom>
          <a:solidFill>
            <a:srgbClr val="1436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"/>
          <p:cNvSpPr/>
          <p:nvPr/>
        </p:nvSpPr>
        <p:spPr>
          <a:xfrm>
            <a:off x="10332720" y="-2011680"/>
            <a:ext cx="4205880" cy="4205880"/>
          </a:xfrm>
          <a:prstGeom prst="ellipse">
            <a:avLst/>
          </a:prstGeom>
          <a:solidFill>
            <a:srgbClr val="184E7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822960" y="1554480"/>
            <a:ext cx="36572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0" b="1" u="none" strike="noStrike">
                <a:solidFill>
                  <a:srgbClr val="14365C"/>
                </a:solidFill>
                <a:effectLst/>
                <a:uFillTx/>
                <a:latin typeface="PingFang TC"/>
                <a:ea typeface="PingFang TC"/>
              </a:rPr>
              <a:t>02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914400" y="30632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PART TWO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868680" y="338328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樂力既有專案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914400" y="4297680"/>
            <a:ext cx="2377440" cy="360"/>
          </a:xfrm>
          <a:prstGeom prst="line">
            <a:avLst/>
          </a:prstGeom>
          <a:ln w="31680">
            <a:solidFill>
              <a:srgbClr val="37C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914400" y="448056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以 </a:t>
            </a:r>
            <a:r>
              <a:rPr lang="en-US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multipay </a:t>
            </a:r>
            <a:r>
              <a:rPr lang="zh-CN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系列為核心</a:t>
            </a:r>
            <a:r>
              <a:rPr lang="en-US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讓 </a:t>
            </a:r>
            <a:r>
              <a:rPr lang="en-US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接手龐大既有專案集的維運與優化。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640080" y="420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PART 02 · </a:t>
            </a:r>
            <a:r>
              <a:rPr lang="zh-CN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既有專案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專案定位與 </a:t>
            </a:r>
            <a:r>
              <a:rPr lang="en-US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工作流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"/>
          <p:cNvSpPr/>
          <p:nvPr/>
        </p:nvSpPr>
        <p:spPr>
          <a:xfrm>
            <a:off x="640080" y="1691640"/>
            <a:ext cx="3748680" cy="4297320"/>
          </a:xfrm>
          <a:prstGeom prst="rect">
            <a:avLst/>
          </a:prstGeom>
          <a:solidFill>
            <a:srgbClr val="0E2A47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"/>
          <p:cNvSpPr/>
          <p:nvPr/>
        </p:nvSpPr>
        <p:spPr>
          <a:xfrm>
            <a:off x="914400" y="1965960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37C0E8"/>
                </a:solidFill>
                <a:effectLst/>
                <a:uFillTx/>
                <a:latin typeface="Courier New"/>
                <a:ea typeface="Courier New"/>
              </a:rPr>
              <a:t>multipay </a:t>
            </a:r>
            <a:r>
              <a:rPr lang="zh-CN" sz="1900" b="1" u="none" strike="noStrike">
                <a:solidFill>
                  <a:srgbClr val="37C0E8"/>
                </a:solidFill>
                <a:effectLst/>
                <a:uFillTx/>
                <a:latin typeface="Courier New"/>
                <a:ea typeface="Courier New"/>
              </a:rPr>
              <a:t>系列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914400" y="24688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樂力主要專案集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5"/>
          <p:cNvSpPr/>
          <p:nvPr/>
        </p:nvSpPr>
        <p:spPr>
          <a:xfrm>
            <a:off x="914400" y="2880360"/>
            <a:ext cx="1005840" cy="360"/>
          </a:xfrm>
          <a:prstGeom prst="line">
            <a:avLst/>
          </a:prstGeom>
          <a:ln w="19080">
            <a:solidFill>
              <a:srgbClr val="1F6F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914400" y="3035880"/>
            <a:ext cx="32914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Java Spring / </a:t>
            </a:r>
            <a:r>
              <a:rPr lang="zh-CN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既有專案。參考既有核心服務、後端與前端</a:t>
            </a:r>
            <a:r>
              <a:rPr lang="en-US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依需求進行增修或優化。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914400" y="434340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使用工具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914400" y="4617720"/>
            <a:ext cx="32914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Claude Code · Antigravity IDE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vibe-sdlc* · git-workflow · ll-kibana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multipay-add-txn-type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design-doc-mermaid · spring-mvc-refactor-kit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9"/>
          <p:cNvSpPr/>
          <p:nvPr/>
        </p:nvSpPr>
        <p:spPr>
          <a:xfrm>
            <a:off x="4572000" y="1783080"/>
            <a:ext cx="6949080" cy="74952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0"/>
          <p:cNvSpPr/>
          <p:nvPr/>
        </p:nvSpPr>
        <p:spPr>
          <a:xfrm>
            <a:off x="4736520" y="1929240"/>
            <a:ext cx="456840" cy="456840"/>
          </a:xfrm>
          <a:prstGeom prst="ellipse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1"/>
          <p:cNvSpPr/>
          <p:nvPr/>
        </p:nvSpPr>
        <p:spPr>
          <a:xfrm>
            <a:off x="4736520" y="192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5349240" y="1783080"/>
            <a:ext cx="60346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由 </a:t>
            </a: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從 </a:t>
            </a: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GitLab Issue 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接單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3"/>
          <p:cNvSpPr/>
          <p:nvPr/>
        </p:nvSpPr>
        <p:spPr>
          <a:xfrm>
            <a:off x="4572000" y="2651760"/>
            <a:ext cx="6949080" cy="74952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4"/>
          <p:cNvSpPr/>
          <p:nvPr/>
        </p:nvSpPr>
        <p:spPr>
          <a:xfrm>
            <a:off x="4736520" y="2797920"/>
            <a:ext cx="456840" cy="456840"/>
          </a:xfrm>
          <a:prstGeom prst="ellipse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5"/>
          <p:cNvSpPr/>
          <p:nvPr/>
        </p:nvSpPr>
        <p:spPr>
          <a:xfrm>
            <a:off x="4736520" y="2797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6"/>
          <p:cNvSpPr/>
          <p:nvPr/>
        </p:nvSpPr>
        <p:spPr>
          <a:xfrm>
            <a:off x="5349240" y="2651760"/>
            <a:ext cx="60346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告知修改重點與目標程式碼位置、參考文件</a:t>
            </a:r>
            <a:r>
              <a:rPr lang="zh-TW" alt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，並</a:t>
            </a:r>
            <a:r>
              <a:rPr lang="zh-TW" altLang="en-US" sz="1450" b="1" u="none" strike="noStrike">
                <a:solidFill>
                  <a:srgbClr val="002060"/>
                </a:solidFill>
                <a:effectLst/>
                <a:uFillTx/>
                <a:latin typeface="PingFang TC"/>
                <a:ea typeface="PingFang TC"/>
              </a:rPr>
              <a:t>審查</a:t>
            </a:r>
            <a:r>
              <a:rPr lang="en-US" altLang="zh-TW" sz="1450" b="1" u="none" strike="noStrike">
                <a:solidFill>
                  <a:srgbClr val="002060"/>
                </a:solidFill>
                <a:effectLst/>
                <a:uFillTx/>
                <a:latin typeface="PingFang TC"/>
                <a:ea typeface="PingFang TC"/>
              </a:rPr>
              <a:t>AI</a:t>
            </a:r>
            <a:r>
              <a:rPr lang="zh-TW" altLang="en-US" sz="1450" b="1" u="none" strike="noStrike">
                <a:solidFill>
                  <a:srgbClr val="002060"/>
                </a:solidFill>
                <a:effectLst/>
                <a:uFillTx/>
                <a:latin typeface="PingFang TC"/>
                <a:ea typeface="PingFang TC"/>
              </a:rPr>
              <a:t>的執行計畫</a:t>
            </a:r>
            <a:endParaRPr lang="en-US" sz="1450" b="1" u="none" strike="noStrike">
              <a:solidFill>
                <a:srgbClr val="00206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7"/>
          <p:cNvSpPr/>
          <p:nvPr/>
        </p:nvSpPr>
        <p:spPr>
          <a:xfrm>
            <a:off x="4572000" y="3520440"/>
            <a:ext cx="6949080" cy="74952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8"/>
          <p:cNvSpPr/>
          <p:nvPr/>
        </p:nvSpPr>
        <p:spPr>
          <a:xfrm>
            <a:off x="4736520" y="3666600"/>
            <a:ext cx="456840" cy="456840"/>
          </a:xfrm>
          <a:prstGeom prst="ellipse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9"/>
          <p:cNvSpPr/>
          <p:nvPr/>
        </p:nvSpPr>
        <p:spPr>
          <a:xfrm>
            <a:off x="4736520" y="3666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0"/>
          <p:cNvSpPr/>
          <p:nvPr/>
        </p:nvSpPr>
        <p:spPr>
          <a:xfrm>
            <a:off x="5349240" y="3520440"/>
            <a:ext cx="60346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依需求與提示修改程式碼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1"/>
          <p:cNvSpPr/>
          <p:nvPr/>
        </p:nvSpPr>
        <p:spPr>
          <a:xfrm>
            <a:off x="4572000" y="4389120"/>
            <a:ext cx="6949080" cy="74952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2"/>
          <p:cNvSpPr/>
          <p:nvPr/>
        </p:nvSpPr>
        <p:spPr>
          <a:xfrm>
            <a:off x="4736520" y="4535280"/>
            <a:ext cx="456840" cy="456840"/>
          </a:xfrm>
          <a:prstGeom prst="ellipse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3"/>
          <p:cNvSpPr/>
          <p:nvPr/>
        </p:nvSpPr>
        <p:spPr>
          <a:xfrm>
            <a:off x="4736520" y="4535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4"/>
          <p:cNvSpPr/>
          <p:nvPr/>
        </p:nvSpPr>
        <p:spPr>
          <a:xfrm>
            <a:off x="5349240" y="4389120"/>
            <a:ext cx="60346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提交</a:t>
            </a:r>
            <a:r>
              <a:rPr lang="zh-CN" altLang="en-US" sz="1450">
                <a:solidFill>
                  <a:srgbClr val="1B2A3A"/>
                </a:solidFill>
                <a:latin typeface="PingFang TC"/>
                <a:ea typeface="PingFang TC"/>
              </a:rPr>
              <a:t>、</a:t>
            </a:r>
            <a:r>
              <a:rPr lang="en-US" altLang="zh-TW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MR</a:t>
            </a:r>
            <a:r>
              <a:rPr lang="zh-TW" alt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、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審查</a:t>
            </a:r>
            <a:r>
              <a:rPr lang="zh-CN" alt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、合併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並校驗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5"/>
          <p:cNvSpPr/>
          <p:nvPr/>
        </p:nvSpPr>
        <p:spPr>
          <a:xfrm>
            <a:off x="4572000" y="5257800"/>
            <a:ext cx="6949080" cy="74952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6"/>
          <p:cNvSpPr/>
          <p:nvPr/>
        </p:nvSpPr>
        <p:spPr>
          <a:xfrm>
            <a:off x="4736520" y="5403960"/>
            <a:ext cx="456840" cy="456840"/>
          </a:xfrm>
          <a:prstGeom prst="ellipse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7"/>
          <p:cNvSpPr/>
          <p:nvPr/>
        </p:nvSpPr>
        <p:spPr>
          <a:xfrm>
            <a:off x="4736520" y="5403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8"/>
          <p:cNvSpPr/>
          <p:nvPr/>
        </p:nvSpPr>
        <p:spPr>
          <a:xfrm>
            <a:off x="5349240" y="5257800"/>
            <a:ext cx="60346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人工測試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9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640080" y="420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PART 02 · </a:t>
            </a:r>
            <a:r>
              <a:rPr lang="zh-CN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既有專案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主要挑戰與導入心得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640080" y="1691640"/>
            <a:ext cx="10926720" cy="123408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"/>
          <p:cNvSpPr/>
          <p:nvPr/>
        </p:nvSpPr>
        <p:spPr>
          <a:xfrm>
            <a:off x="640080" y="1691640"/>
            <a:ext cx="82080" cy="1234080"/>
          </a:xfrm>
          <a:prstGeom prst="rect">
            <a:avLst/>
          </a:prstGeom>
          <a:solidFill>
            <a:srgbClr val="E894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914400" y="18745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C2701E"/>
                </a:solidFill>
                <a:effectLst/>
                <a:uFillTx/>
                <a:latin typeface="PingFang TC"/>
                <a:ea typeface="PingFang TC"/>
              </a:rPr>
              <a:t>主要挑戰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914400" y="228600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既有專案集龐大複雜</a:t>
            </a:r>
            <a:r>
              <a:rPr lang="en-US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45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不易定位需修正的目標程式碼。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640080" y="31546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導入心得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7"/>
          <p:cNvSpPr/>
          <p:nvPr/>
        </p:nvSpPr>
        <p:spPr>
          <a:xfrm>
            <a:off x="640080" y="3611880"/>
            <a:ext cx="5348880" cy="117000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8"/>
          <p:cNvSpPr/>
          <p:nvPr/>
        </p:nvSpPr>
        <p:spPr>
          <a:xfrm>
            <a:off x="640080" y="3611880"/>
            <a:ext cx="82080" cy="1170000"/>
          </a:xfrm>
          <a:prstGeom prst="rect">
            <a:avLst/>
          </a:prstGeom>
          <a:solidFill>
            <a:srgbClr val="37C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914400" y="37400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先做一次完整分析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914400" y="4105800"/>
            <a:ext cx="49374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分析前列出所有相關專案與定位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讓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依序分析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並為每個專案產出固定格式的分析文件。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6190560" y="3611880"/>
            <a:ext cx="5348880" cy="117000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2"/>
          <p:cNvSpPr/>
          <p:nvPr/>
        </p:nvSpPr>
        <p:spPr>
          <a:xfrm>
            <a:off x="6190560" y="3611880"/>
            <a:ext cx="82080" cy="1170000"/>
          </a:xfrm>
          <a:prstGeom prst="rect">
            <a:avLst/>
          </a:prstGeom>
          <a:solidFill>
            <a:srgbClr val="37C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3"/>
          <p:cNvSpPr/>
          <p:nvPr/>
        </p:nvSpPr>
        <p:spPr>
          <a:xfrm>
            <a:off x="6464880" y="37400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生成索引文件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4"/>
          <p:cNvSpPr/>
          <p:nvPr/>
        </p:nvSpPr>
        <p:spPr>
          <a:xfrm>
            <a:off x="6464880" y="4105800"/>
            <a:ext cx="49374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讓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分析並建立索引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以快速定位目標文件與程式碼。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5"/>
          <p:cNvSpPr/>
          <p:nvPr/>
        </p:nvSpPr>
        <p:spPr>
          <a:xfrm>
            <a:off x="640080" y="4937760"/>
            <a:ext cx="5348880" cy="117000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6"/>
          <p:cNvSpPr/>
          <p:nvPr/>
        </p:nvSpPr>
        <p:spPr>
          <a:xfrm>
            <a:off x="640080" y="4937760"/>
            <a:ext cx="82080" cy="1170000"/>
          </a:xfrm>
          <a:prstGeom prst="rect">
            <a:avLst/>
          </a:prstGeom>
          <a:solidFill>
            <a:srgbClr val="37C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7"/>
          <p:cNvSpPr/>
          <p:nvPr/>
        </p:nvSpPr>
        <p:spPr>
          <a:xfrm>
            <a:off x="914400" y="50659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優化測試流程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8"/>
          <p:cNvSpPr/>
          <p:nvPr/>
        </p:nvSpPr>
        <p:spPr>
          <a:xfrm>
            <a:off x="914400" y="5431680"/>
            <a:ext cx="49374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期望自動佈署至測試環境後由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進行測試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取代部分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OP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測試工作。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9"/>
          <p:cNvSpPr/>
          <p:nvPr/>
        </p:nvSpPr>
        <p:spPr>
          <a:xfrm>
            <a:off x="6190560" y="4937760"/>
            <a:ext cx="5348880" cy="117000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0"/>
          <p:cNvSpPr/>
          <p:nvPr/>
        </p:nvSpPr>
        <p:spPr>
          <a:xfrm>
            <a:off x="6190560" y="4937760"/>
            <a:ext cx="82080" cy="1170000"/>
          </a:xfrm>
          <a:prstGeom prst="rect">
            <a:avLst/>
          </a:prstGeom>
          <a:solidFill>
            <a:srgbClr val="37C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1"/>
          <p:cNvSpPr/>
          <p:nvPr/>
        </p:nvSpPr>
        <p:spPr>
          <a:xfrm>
            <a:off x="6464880" y="50659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定義常用 </a:t>
            </a:r>
            <a:r>
              <a:rPr lang="en-US" sz="15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Skill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2"/>
          <p:cNvSpPr/>
          <p:nvPr/>
        </p:nvSpPr>
        <p:spPr>
          <a:xfrm>
            <a:off x="6464880" y="5431680"/>
            <a:ext cx="49374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針對常見修改建立專屬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skill,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直接說明重點程式碼位置與修改重點。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3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-1645920" y="3657600"/>
            <a:ext cx="5028840" cy="5028840"/>
          </a:xfrm>
          <a:prstGeom prst="ellipse">
            <a:avLst/>
          </a:prstGeom>
          <a:solidFill>
            <a:srgbClr val="1436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"/>
          <p:cNvSpPr/>
          <p:nvPr/>
        </p:nvSpPr>
        <p:spPr>
          <a:xfrm>
            <a:off x="10332720" y="-2011680"/>
            <a:ext cx="4205880" cy="4205880"/>
          </a:xfrm>
          <a:prstGeom prst="ellipse">
            <a:avLst/>
          </a:prstGeom>
          <a:solidFill>
            <a:srgbClr val="184E7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822960" y="1554480"/>
            <a:ext cx="36572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0" b="1" u="none" strike="noStrike">
                <a:solidFill>
                  <a:srgbClr val="14365C"/>
                </a:solidFill>
                <a:effectLst/>
                <a:uFillTx/>
                <a:latin typeface="PingFang TC"/>
                <a:ea typeface="PingFang TC"/>
              </a:rPr>
              <a:t>03</a:t>
            </a:r>
            <a:endParaRPr lang="en-US" sz="1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914400" y="30632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PART THREE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868680" y="338328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樂力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40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客服機器人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914400" y="4297680"/>
            <a:ext cx="2377440" cy="360"/>
          </a:xfrm>
          <a:prstGeom prst="line">
            <a:avLst/>
          </a:prstGeom>
          <a:ln w="31680">
            <a:solidFill>
              <a:srgbClr val="37C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914400" y="448056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解決查單、催單等客服場景</a:t>
            </a:r>
            <a:r>
              <a:rPr lang="en-US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50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並評估兩條技術路線。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0"/>
          <p:cNvSpPr/>
          <p:nvPr/>
        </p:nvSpPr>
        <p:spPr>
          <a:xfrm>
            <a:off x="640080" y="420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PART 03 · AI </a:t>
            </a:r>
            <a:r>
              <a:rPr lang="zh-CN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客服機器人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專案目標與組成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"/>
          <p:cNvSpPr/>
          <p:nvPr/>
        </p:nvSpPr>
        <p:spPr>
          <a:xfrm>
            <a:off x="640080" y="1463040"/>
            <a:ext cx="10926720" cy="868320"/>
          </a:xfrm>
          <a:prstGeom prst="rect">
            <a:avLst/>
          </a:prstGeom>
          <a:solidFill>
            <a:srgbClr val="0E2A47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3"/>
          <p:cNvSpPr/>
          <p:nvPr/>
        </p:nvSpPr>
        <p:spPr>
          <a:xfrm>
            <a:off x="914400" y="1463040"/>
            <a:ext cx="104238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專案目標　</a:t>
            </a: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解決樂力運營的客服問題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提供「查單」、「催單」、「不明單查單」等功能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並兼具運營助理角色。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4"/>
          <p:cNvSpPr/>
          <p:nvPr/>
        </p:nvSpPr>
        <p:spPr>
          <a:xfrm>
            <a:off x="640080" y="2606040"/>
            <a:ext cx="3501720" cy="32457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5"/>
          <p:cNvSpPr/>
          <p:nvPr/>
        </p:nvSpPr>
        <p:spPr>
          <a:xfrm>
            <a:off x="640080" y="2606040"/>
            <a:ext cx="3501720" cy="109440"/>
          </a:xfrm>
          <a:prstGeom prst="rect">
            <a:avLst/>
          </a:prstGeom>
          <a:solidFill>
            <a:srgbClr val="184E7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868680" y="292608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6FB8"/>
                </a:solidFill>
                <a:effectLst/>
                <a:uFillTx/>
                <a:latin typeface="Courier New"/>
                <a:ea typeface="Courier New"/>
              </a:rPr>
              <a:t>agent-container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7"/>
          <p:cNvSpPr/>
          <p:nvPr/>
        </p:nvSpPr>
        <p:spPr>
          <a:xfrm>
            <a:off x="868680" y="35661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AI Agent / TG Bot </a:t>
            </a:r>
            <a:r>
              <a:rPr lang="zh-CN" sz="145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佈署容器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8"/>
          <p:cNvSpPr/>
          <p:nvPr/>
        </p:nvSpPr>
        <p:spPr>
          <a:xfrm>
            <a:off x="868680" y="4114800"/>
            <a:ext cx="1005840" cy="360"/>
          </a:xfrm>
          <a:prstGeom prst="line">
            <a:avLst/>
          </a:prstGeom>
          <a:ln w="19080">
            <a:solidFill>
              <a:srgbClr val="D5E1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9"/>
          <p:cNvSpPr/>
          <p:nvPr/>
        </p:nvSpPr>
        <p:spPr>
          <a:xfrm>
            <a:off x="868680" y="4251960"/>
            <a:ext cx="306288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以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OpenClaw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為基底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建構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TG Bot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插件與技能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佈署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Agents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並橋接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TG Bot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0"/>
          <p:cNvSpPr/>
          <p:nvPr/>
        </p:nvSpPr>
        <p:spPr>
          <a:xfrm>
            <a:off x="4352400" y="2606040"/>
            <a:ext cx="3501720" cy="32457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1"/>
          <p:cNvSpPr/>
          <p:nvPr/>
        </p:nvSpPr>
        <p:spPr>
          <a:xfrm>
            <a:off x="4352400" y="2606040"/>
            <a:ext cx="3501720" cy="109440"/>
          </a:xfrm>
          <a:prstGeom prst="rect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2"/>
          <p:cNvSpPr/>
          <p:nvPr/>
        </p:nvSpPr>
        <p:spPr>
          <a:xfrm>
            <a:off x="4581000" y="292608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6FB8"/>
                </a:solidFill>
                <a:effectLst/>
                <a:uFillTx/>
                <a:latin typeface="Courier New"/>
                <a:ea typeface="Courier New"/>
              </a:rPr>
              <a:t>icpay-tg-bot-services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3"/>
          <p:cNvSpPr/>
          <p:nvPr/>
        </p:nvSpPr>
        <p:spPr>
          <a:xfrm>
            <a:off x="4581000" y="35661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AI Agent </a:t>
            </a:r>
            <a:r>
              <a:rPr lang="zh-CN" sz="145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業務服務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4"/>
          <p:cNvSpPr/>
          <p:nvPr/>
        </p:nvSpPr>
        <p:spPr>
          <a:xfrm>
            <a:off x="4581000" y="4114800"/>
            <a:ext cx="1005840" cy="360"/>
          </a:xfrm>
          <a:prstGeom prst="line">
            <a:avLst/>
          </a:prstGeom>
          <a:ln w="19080">
            <a:solidFill>
              <a:srgbClr val="D5E1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5"/>
          <p:cNvSpPr/>
          <p:nvPr/>
        </p:nvSpPr>
        <p:spPr>
          <a:xfrm>
            <a:off x="4581000" y="4251960"/>
            <a:ext cx="306288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經由安全驗證機制提供必要的樂力業務服務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並包裝成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skill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供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Agent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使用。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6"/>
          <p:cNvSpPr/>
          <p:nvPr/>
        </p:nvSpPr>
        <p:spPr>
          <a:xfrm>
            <a:off x="8065080" y="2606040"/>
            <a:ext cx="3501720" cy="324576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7"/>
          <p:cNvSpPr/>
          <p:nvPr/>
        </p:nvSpPr>
        <p:spPr>
          <a:xfrm>
            <a:off x="8065080" y="2606040"/>
            <a:ext cx="3501720" cy="109440"/>
          </a:xfrm>
          <a:prstGeom prst="rect">
            <a:avLst/>
          </a:prstGeom>
          <a:solidFill>
            <a:srgbClr val="37C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8"/>
          <p:cNvSpPr/>
          <p:nvPr/>
        </p:nvSpPr>
        <p:spPr>
          <a:xfrm>
            <a:off x="8293680" y="292608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6FB8"/>
                </a:solidFill>
                <a:effectLst/>
                <a:uFillTx/>
                <a:latin typeface="Courier New"/>
                <a:ea typeface="Courier New"/>
              </a:rPr>
              <a:t>icpay-ai-bot-crm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9"/>
          <p:cNvSpPr/>
          <p:nvPr/>
        </p:nvSpPr>
        <p:spPr>
          <a:xfrm>
            <a:off x="8293680" y="35661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客服智能體框架 </a:t>
            </a:r>
            <a:r>
              <a:rPr lang="en-US" sz="145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(Harness)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0"/>
          <p:cNvSpPr/>
          <p:nvPr/>
        </p:nvSpPr>
        <p:spPr>
          <a:xfrm>
            <a:off x="8293320" y="4114800"/>
            <a:ext cx="1005840" cy="360"/>
          </a:xfrm>
          <a:prstGeom prst="line">
            <a:avLst/>
          </a:prstGeom>
          <a:ln w="19080">
            <a:solidFill>
              <a:srgbClr val="D5E1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1"/>
          <p:cNvSpPr/>
          <p:nvPr/>
        </p:nvSpPr>
        <p:spPr>
          <a:xfrm>
            <a:off x="8293680" y="4251960"/>
            <a:ext cx="306288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以預定義工作流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(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狀態機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)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控制對話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;LLM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僅負責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NLU 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與制式 </a:t>
            </a:r>
            <a:r>
              <a:rPr lang="en-US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Response,</a:t>
            </a:r>
            <a:r>
              <a:rPr lang="zh-CN" sz="125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將意圖轉為事件。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2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640080" y="420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PART 03 · AI </a:t>
            </a:r>
            <a:r>
              <a:rPr lang="zh-CN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客服機器人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兩種開發方向比較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640080" y="1492736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評估方向</a:t>
            </a:r>
            <a:r>
              <a:rPr lang="en-US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:① </a:t>
            </a:r>
            <a:r>
              <a:rPr lang="zh-CN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以通用智能體框架</a:t>
            </a:r>
            <a:r>
              <a:rPr lang="en-US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(OpenClaw / Hermes)</a:t>
            </a:r>
            <a:r>
              <a:rPr lang="zh-CN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為主　② 自建 </a:t>
            </a:r>
            <a:r>
              <a:rPr lang="en-US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Harness </a:t>
            </a:r>
            <a:r>
              <a:rPr lang="zh-CN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框架</a:t>
            </a:r>
            <a:r>
              <a:rPr lang="en-US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嚴格控制業務流程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4" name="Table 0"/>
          <p:cNvGraphicFramePr/>
          <p:nvPr>
            <p:extLst>
              <p:ext uri="{D42A27DB-BD31-4B8C-83A1-F6EECF244321}">
                <p14:modId xmlns:p14="http://schemas.microsoft.com/office/powerpoint/2010/main" val="570014848"/>
              </p:ext>
            </p:extLst>
          </p:nvPr>
        </p:nvGraphicFramePr>
        <p:xfrm>
          <a:off x="640080" y="2196444"/>
          <a:ext cx="10927080" cy="382728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7881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決策點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自建 </a:t>
                      </a: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Harness </a:t>
                      </a:r>
                      <a:r>
                        <a:rPr lang="zh-CN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框架  ✓ 受控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1F6FB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通用框架 </a:t>
                      </a: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(OpenClaw / Hermes)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184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88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50" b="1" u="none" strike="noStrike">
                          <a:solidFill>
                            <a:srgbClr val="1B2A3A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主流程驅動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E5EE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狀態機</a:t>
                      </a:r>
                      <a:r>
                        <a:rPr lang="en-US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(transitions </a:t>
                      </a:r>
                      <a:r>
                        <a:rPr lang="zh-CN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庫</a:t>
                      </a:r>
                      <a:r>
                        <a:rPr lang="en-US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LLM Agent </a:t>
                      </a:r>
                      <a:r>
                        <a:rPr lang="zh-CN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自主規劃下一步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88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1B2A3A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LLM </a:t>
                      </a:r>
                      <a:r>
                        <a:rPr lang="zh-CN" sz="1250" b="1" u="none" strike="noStrike">
                          <a:solidFill>
                            <a:srgbClr val="1B2A3A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輸出處理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E5EE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翻譯層 </a:t>
                      </a:r>
                      <a:r>
                        <a:rPr lang="en-US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+ JSONLogic </a:t>
                      </a:r>
                      <a:r>
                        <a:rPr lang="zh-CN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規則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LLM </a:t>
                      </a:r>
                      <a:r>
                        <a:rPr lang="zh-CN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直接決定 </a:t>
                      </a:r>
                      <a:r>
                        <a:rPr lang="en-US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action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88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50" b="1" u="none" strike="noStrike">
                          <a:solidFill>
                            <a:srgbClr val="1B2A3A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工具暴露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E5EE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自建 </a:t>
                      </a:r>
                      <a:r>
                        <a:rPr lang="en-US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LLM </a:t>
                      </a:r>
                      <a:r>
                        <a:rPr lang="zh-CN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專屬 </a:t>
                      </a:r>
                      <a:r>
                        <a:rPr lang="en-US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API </a:t>
                      </a:r>
                      <a:r>
                        <a:rPr lang="zh-CN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層</a:t>
                      </a:r>
                      <a:r>
                        <a:rPr lang="en-US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(</a:t>
                      </a:r>
                      <a:r>
                        <a:rPr lang="zh-CN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白名單</a:t>
                      </a:r>
                      <a:r>
                        <a:rPr lang="en-US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將現有 </a:t>
                      </a:r>
                      <a:r>
                        <a:rPr lang="en-US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API </a:t>
                      </a:r>
                      <a:r>
                        <a:rPr lang="zh-CN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直接餵給 </a:t>
                      </a:r>
                      <a:r>
                        <a:rPr lang="en-US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Agent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88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50" b="1" u="none" strike="noStrike">
                          <a:solidFill>
                            <a:srgbClr val="1B2A3A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業務規則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E5EE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規則表 </a:t>
                      </a:r>
                      <a:r>
                        <a:rPr lang="en-US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+ </a:t>
                      </a:r>
                      <a:r>
                        <a:rPr lang="zh-CN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程式守衛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塞進 </a:t>
                      </a:r>
                      <a:r>
                        <a:rPr lang="en-US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Prompt </a:t>
                      </a:r>
                      <a:r>
                        <a:rPr lang="zh-CN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讓 </a:t>
                      </a:r>
                      <a:r>
                        <a:rPr lang="en-US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LLM </a:t>
                      </a:r>
                      <a:r>
                        <a:rPr lang="zh-CN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判斷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88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50" b="1" u="none" strike="noStrike">
                          <a:solidFill>
                            <a:srgbClr val="1B2A3A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流程編排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E5EE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狀態轉換表</a:t>
                      </a:r>
                      <a:r>
                        <a:rPr lang="en-US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(</a:t>
                      </a:r>
                      <a:r>
                        <a:rPr lang="zh-CN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顯式、可驗證</a:t>
                      </a:r>
                      <a:r>
                        <a:rPr lang="en-US" sz="1250" b="0" u="none" strike="noStrike">
                          <a:solidFill>
                            <a:srgbClr val="184E7E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Agent </a:t>
                      </a:r>
                      <a:r>
                        <a:rPr lang="zh-CN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的 </a:t>
                      </a:r>
                      <a:r>
                        <a:rPr lang="en-US" sz="1250" b="0" u="none" strike="noStrike">
                          <a:solidFill>
                            <a:srgbClr val="5E7186"/>
                          </a:solidFill>
                          <a:effectLst/>
                          <a:uFillTx/>
                          <a:latin typeface="PingFang TC"/>
                          <a:ea typeface="PingFang TC"/>
                        </a:rPr>
                        <a:t>reasoning chain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50760" marB="50760" anchor="ctr">
                    <a:lnL w="6480">
                      <a:solidFill>
                        <a:srgbClr val="D5E1EE"/>
                      </a:solidFill>
                      <a:prstDash val="solid"/>
                    </a:lnL>
                    <a:lnR w="6480">
                      <a:solidFill>
                        <a:srgbClr val="D5E1EE"/>
                      </a:solidFill>
                      <a:prstDash val="solid"/>
                    </a:lnR>
                    <a:lnT w="6480">
                      <a:solidFill>
                        <a:srgbClr val="D5E1EE"/>
                      </a:solidFill>
                      <a:prstDash val="solid"/>
                    </a:lnT>
                    <a:lnB w="6480">
                      <a:solidFill>
                        <a:srgbClr val="D5E1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5" name="Text 3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640080" y="420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PART 03 · AI </a:t>
            </a:r>
            <a:r>
              <a:rPr lang="zh-CN" sz="1300" b="1" u="none" strike="noStrike" spc="201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客服機器人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主要挑戰與發展心得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"/>
          <p:cNvSpPr/>
          <p:nvPr/>
        </p:nvSpPr>
        <p:spPr>
          <a:xfrm>
            <a:off x="640080" y="1508760"/>
            <a:ext cx="10926720" cy="114264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640080" y="1508760"/>
            <a:ext cx="82080" cy="1142640"/>
          </a:xfrm>
          <a:prstGeom prst="rect">
            <a:avLst/>
          </a:prstGeom>
          <a:solidFill>
            <a:srgbClr val="E894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"/>
          <p:cNvSpPr/>
          <p:nvPr/>
        </p:nvSpPr>
        <p:spPr>
          <a:xfrm>
            <a:off x="914400" y="16642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C2701E"/>
                </a:solidFill>
                <a:effectLst/>
                <a:uFillTx/>
                <a:latin typeface="PingFang TC"/>
                <a:ea typeface="PingFang TC"/>
              </a:rPr>
              <a:t>主要挑戰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914400" y="204840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客服業務邏輯複雜</a:t>
            </a:r>
            <a:r>
              <a:rPr lang="en-US" sz="14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4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且觸發詞相近</a:t>
            </a:r>
            <a:r>
              <a:rPr lang="en-US" sz="14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;</a:t>
            </a:r>
            <a:r>
              <a:rPr lang="zh-CN" sz="14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即使正確區分觸發詞意</a:t>
            </a:r>
            <a:r>
              <a:rPr lang="en-US" sz="14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4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後續流程仍變化多端</a:t>
            </a:r>
            <a:r>
              <a:rPr lang="en-US" sz="14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4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導致業務流程難以滿足運營需求。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6"/>
          <p:cNvSpPr/>
          <p:nvPr/>
        </p:nvSpPr>
        <p:spPr>
          <a:xfrm>
            <a:off x="640080" y="2834640"/>
            <a:ext cx="5348880" cy="1691280"/>
          </a:xfrm>
          <a:prstGeom prst="rect">
            <a:avLst/>
          </a:prstGeom>
          <a:solidFill>
            <a:srgbClr val="0E2A47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7"/>
          <p:cNvSpPr/>
          <p:nvPr/>
        </p:nvSpPr>
        <p:spPr>
          <a:xfrm>
            <a:off x="640080" y="2834640"/>
            <a:ext cx="5348880" cy="109440"/>
          </a:xfrm>
          <a:prstGeom prst="rect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960120" y="312732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通用智能體框架方向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9"/>
          <p:cNvSpPr/>
          <p:nvPr/>
        </p:nvSpPr>
        <p:spPr>
          <a:xfrm>
            <a:off x="960120" y="3639240"/>
            <a:ext cx="47545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需求應由簡至繁</a:t>
            </a:r>
            <a:r>
              <a:rPr lang="en-US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循序迭代</a:t>
            </a:r>
            <a:r>
              <a:rPr lang="en-US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逐步擴充能力。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0"/>
          <p:cNvSpPr/>
          <p:nvPr/>
        </p:nvSpPr>
        <p:spPr>
          <a:xfrm>
            <a:off x="6190560" y="2834640"/>
            <a:ext cx="5348880" cy="1691280"/>
          </a:xfrm>
          <a:prstGeom prst="rect">
            <a:avLst/>
          </a:prstGeom>
          <a:solidFill>
            <a:srgbClr val="0E2A47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1"/>
          <p:cNvSpPr/>
          <p:nvPr/>
        </p:nvSpPr>
        <p:spPr>
          <a:xfrm>
            <a:off x="6190560" y="2834640"/>
            <a:ext cx="5348880" cy="109440"/>
          </a:xfrm>
          <a:prstGeom prst="rect">
            <a:avLst/>
          </a:prstGeom>
          <a:solidFill>
            <a:srgbClr val="37C0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2"/>
          <p:cNvSpPr/>
          <p:nvPr/>
        </p:nvSpPr>
        <p:spPr>
          <a:xfrm>
            <a:off x="6510600" y="312732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自建 </a:t>
            </a:r>
            <a:r>
              <a:rPr lang="en-US" sz="1700" b="1" u="none" strike="noStrike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Harness </a:t>
            </a:r>
            <a:r>
              <a:rPr lang="zh-CN" sz="1700" b="1" u="none" strike="noStrike">
                <a:solidFill>
                  <a:srgbClr val="37C0E8"/>
                </a:solidFill>
                <a:effectLst/>
                <a:uFillTx/>
                <a:latin typeface="PingFang TC"/>
                <a:ea typeface="PingFang TC"/>
              </a:rPr>
              <a:t>框架方向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3"/>
          <p:cNvSpPr/>
          <p:nvPr/>
        </p:nvSpPr>
        <p:spPr>
          <a:xfrm>
            <a:off x="6510600" y="3639240"/>
            <a:ext cx="47545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定義強邏輯工作流</a:t>
            </a:r>
            <a:r>
              <a:rPr lang="en-US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(</a:t>
            </a:r>
            <a:r>
              <a:rPr lang="zh-CN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狀態機</a:t>
            </a:r>
            <a:r>
              <a:rPr lang="en-US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),</a:t>
            </a:r>
            <a:r>
              <a:rPr lang="zh-CN" sz="13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確保每個流程步驟均可確定、可驗證。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4"/>
          <p:cNvSpPr/>
          <p:nvPr/>
        </p:nvSpPr>
        <p:spPr>
          <a:xfrm>
            <a:off x="640080" y="4754880"/>
            <a:ext cx="10926720" cy="1371240"/>
          </a:xfrm>
          <a:prstGeom prst="rect">
            <a:avLst/>
          </a:prstGeom>
          <a:solidFill>
            <a:srgbClr val="F2F6FB"/>
          </a:solidFill>
          <a:ln w="0">
            <a:noFill/>
          </a:ln>
          <a:effectLst>
            <a:outerShdw blurRad="114480" dist="38160" dir="5400000" rotWithShape="0">
              <a:srgbClr val="0E2A47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5"/>
          <p:cNvSpPr/>
          <p:nvPr/>
        </p:nvSpPr>
        <p:spPr>
          <a:xfrm>
            <a:off x="640080" y="4754880"/>
            <a:ext cx="82080" cy="1371240"/>
          </a:xfrm>
          <a:prstGeom prst="rect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6"/>
          <p:cNvSpPr/>
          <p:nvPr/>
        </p:nvSpPr>
        <p:spPr>
          <a:xfrm>
            <a:off x="914400" y="491940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業界佐證　</a:t>
            </a:r>
            <a:r>
              <a:rPr lang="en-US" sz="145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·</a:t>
            </a:r>
            <a:r>
              <a:rPr lang="zh-CN" sz="145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　</a:t>
            </a:r>
            <a:r>
              <a:rPr lang="en-US" sz="145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Claude Code</a:t>
            </a:r>
            <a:r>
              <a:rPr lang="zh-CN" sz="145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「</a:t>
            </a:r>
            <a:r>
              <a:rPr lang="en-US" sz="145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Dynamic Workflow</a:t>
            </a:r>
            <a:r>
              <a:rPr lang="zh-CN" sz="1450" b="1" u="none" strike="noStrike">
                <a:solidFill>
                  <a:srgbClr val="1F6FB8"/>
                </a:solidFill>
                <a:effectLst/>
                <a:uFillTx/>
                <a:latin typeface="PingFang TC"/>
                <a:ea typeface="PingFang TC"/>
              </a:rPr>
              <a:t>」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7"/>
          <p:cNvSpPr/>
          <p:nvPr/>
        </p:nvSpPr>
        <p:spPr>
          <a:xfrm>
            <a:off x="914400" y="5285160"/>
            <a:ext cx="10423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Anthropic 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於 </a:t>
            </a: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2026 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年 </a:t>
            </a: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5 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月釋出的 </a:t>
            </a: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Claude Code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「</a:t>
            </a: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Dynamic Workflow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」同樣將控制流程從 </a:t>
            </a: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LLM 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手中抽離、釘進確定性程式碼</a:t>
            </a: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,LLM 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僅承擔有邊界的工作——與自建 </a:t>
            </a: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Harness 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核心思路不謀而合</a:t>
            </a:r>
            <a:r>
              <a:rPr lang="en-US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300" b="0" u="none" strike="noStrike">
                <a:solidFill>
                  <a:srgbClr val="1B2A3A"/>
                </a:solidFill>
                <a:effectLst/>
                <a:uFillTx/>
                <a:latin typeface="PingFang TC"/>
                <a:ea typeface="PingFang TC"/>
              </a:rPr>
              <a:t>印證此為面對複雜業務流程、降低不確定性的主流選擇。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8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E7186"/>
                </a:solidFill>
                <a:effectLst/>
                <a:uFillTx/>
                <a:latin typeface="PingFang TC"/>
                <a:ea typeface="PingFang TC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-1828800" y="-2011680"/>
            <a:ext cx="5028840" cy="5028840"/>
          </a:xfrm>
          <a:prstGeom prst="ellipse">
            <a:avLst/>
          </a:prstGeom>
          <a:solidFill>
            <a:srgbClr val="1436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"/>
          <p:cNvSpPr/>
          <p:nvPr/>
        </p:nvSpPr>
        <p:spPr>
          <a:xfrm>
            <a:off x="10058400" y="3840480"/>
            <a:ext cx="4388760" cy="4388760"/>
          </a:xfrm>
          <a:prstGeom prst="ellipse">
            <a:avLst/>
          </a:prstGeom>
          <a:solidFill>
            <a:srgbClr val="184E7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"/>
          <p:cNvSpPr/>
          <p:nvPr/>
        </p:nvSpPr>
        <p:spPr>
          <a:xfrm>
            <a:off x="777240" y="1325880"/>
            <a:ext cx="1554120" cy="310680"/>
          </a:xfrm>
          <a:prstGeom prst="rect">
            <a:avLst/>
          </a:prstGeom>
          <a:solidFill>
            <a:srgbClr val="1F6F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KEY TAKEAWAYS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"/>
          <p:cNvSpPr/>
          <p:nvPr/>
        </p:nvSpPr>
        <p:spPr>
          <a:xfrm>
            <a:off x="731520" y="178308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800" b="1" u="none" strike="noStrike">
                <a:solidFill>
                  <a:srgbClr val="FFFFFF"/>
                </a:solidFill>
                <a:effectLst/>
                <a:uFillTx/>
                <a:latin typeface="PingFang TC"/>
                <a:ea typeface="PingFang TC"/>
              </a:rPr>
              <a:t>綜合心得與後續方向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4"/>
          <p:cNvSpPr/>
          <p:nvPr/>
        </p:nvSpPr>
        <p:spPr>
          <a:xfrm>
            <a:off x="777240" y="2697480"/>
            <a:ext cx="2377440" cy="360"/>
          </a:xfrm>
          <a:prstGeom prst="line">
            <a:avLst/>
          </a:prstGeom>
          <a:ln w="31680">
            <a:solidFill>
              <a:srgbClr val="37C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822960" y="2871361"/>
            <a:ext cx="10240920" cy="3624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10000"/>
              </a:lnSpc>
              <a:spcAft>
                <a:spcPts val="1199"/>
              </a:spcAft>
              <a:buClr>
                <a:srgbClr val="CFE4F5"/>
              </a:buClr>
              <a:buFont typeface="Symbol" charset="2"/>
              <a:buChar char=""/>
            </a:pP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面對龐大或複雜的既有專案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「先完整分析、再</a:t>
            </a:r>
            <a:r>
              <a:rPr lang="zh-CN" sz="1650" b="0" u="none" strike="noStrike">
                <a:solidFill>
                  <a:srgbClr val="FFC000"/>
                </a:solidFill>
                <a:effectLst/>
                <a:uFillTx/>
                <a:latin typeface="PingFang TC"/>
                <a:ea typeface="PingFang TC"/>
              </a:rPr>
              <a:t>產出索引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」有助快速定位程式碼、降低改錯風險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並留下可重用的結構地圖。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199"/>
              </a:spcAft>
              <a:buClr>
                <a:srgbClr val="CFE4F5"/>
              </a:buClr>
              <a:buFont typeface="Symbol" charset="2"/>
              <a:buChar char=""/>
            </a:pP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以 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Skill 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沉澱常見任務的重點與</a:t>
            </a:r>
            <a:r>
              <a:rPr lang="zh-CN" alt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步驟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讓 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產出更穩定</a:t>
            </a:r>
            <a:r>
              <a:rPr lang="zh-TW" alt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，但也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</a:rPr>
              <a:t>不要安裝太多同質或類似的 skills </a:t>
            </a:r>
            <a:r>
              <a:rPr lang="zh-TW" alt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</a:rPr>
              <a:t>， </a:t>
            </a:r>
            <a:r>
              <a:rPr lang="zh-TW" altLang="en-US" sz="1650">
                <a:solidFill>
                  <a:srgbClr val="CFE4F5"/>
                </a:solidFill>
                <a:latin typeface="PingFang TC"/>
              </a:rPr>
              <a:t>避免</a:t>
            </a:r>
            <a:r>
              <a:rPr lang="en-US" altLang="zh-TW" sz="1650">
                <a:solidFill>
                  <a:srgbClr val="CFE4F5"/>
                </a:solidFill>
                <a:latin typeface="PingFang TC"/>
              </a:rPr>
              <a:t>AI</a:t>
            </a:r>
            <a:r>
              <a:rPr lang="zh-TW" altLang="en-US" sz="1650">
                <a:solidFill>
                  <a:srgbClr val="CFE4F5"/>
                </a:solidFill>
                <a:latin typeface="PingFang TC"/>
              </a:rPr>
              <a:t> 混淆。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199"/>
              </a:spcAft>
              <a:buClr>
                <a:srgbClr val="CFE4F5"/>
              </a:buClr>
              <a:buFont typeface="Symbol" charset="2"/>
              <a:buChar char=""/>
            </a:pP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推進測試自動化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, 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讓 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AI 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接手</a:t>
            </a:r>
            <a:r>
              <a:rPr lang="zh-CN" sz="165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部分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 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OP 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測試</a:t>
            </a:r>
            <a:r>
              <a:rPr lang="zh-CN" altLang="en-US" sz="1650">
                <a:solidFill>
                  <a:srgbClr val="CFE4F5"/>
                </a:solidFill>
                <a:latin typeface="PingFang TC"/>
                <a:ea typeface="PingFang TC"/>
              </a:rPr>
              <a:t>步驟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縮短驗證循環。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199"/>
              </a:spcAft>
              <a:buClr>
                <a:srgbClr val="CFE4F5"/>
              </a:buClr>
              <a:buFont typeface="Symbol" charset="2"/>
              <a:buChar char=""/>
            </a:pPr>
            <a:r>
              <a:rPr lang="zh-CN" altLang="en-US" sz="1650">
                <a:solidFill>
                  <a:srgbClr val="CFE4F5"/>
                </a:solidFill>
                <a:latin typeface="PingFang TC"/>
                <a:ea typeface="PingFang TC"/>
              </a:rPr>
              <a:t>樂力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客服專案因流程確定性要求高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適合</a:t>
            </a:r>
            <a:r>
              <a:rPr lang="zh-CN" sz="1650" b="0" u="none" strike="noStrike">
                <a:solidFill>
                  <a:srgbClr val="FFC000"/>
                </a:solidFill>
                <a:effectLst/>
                <a:uFillTx/>
                <a:latin typeface="PingFang TC"/>
                <a:ea typeface="PingFang TC"/>
              </a:rPr>
              <a:t>把「</a:t>
            </a:r>
            <a:r>
              <a:rPr lang="zh-CN" sz="1650" b="1" u="none" strike="noStrike">
                <a:solidFill>
                  <a:srgbClr val="FFC000"/>
                </a:solidFill>
                <a:effectLst/>
                <a:uFillTx/>
                <a:latin typeface="PingFang TC"/>
                <a:ea typeface="PingFang TC"/>
              </a:rPr>
              <a:t>控制流程</a:t>
            </a:r>
            <a:r>
              <a:rPr lang="zh-CN" sz="1650" b="0" u="none" strike="noStrike">
                <a:solidFill>
                  <a:srgbClr val="FFC000"/>
                </a:solidFill>
                <a:effectLst/>
                <a:uFillTx/>
                <a:latin typeface="PingFang TC"/>
                <a:ea typeface="PingFang TC"/>
              </a:rPr>
              <a:t>」從 </a:t>
            </a:r>
            <a:r>
              <a:rPr lang="en-US" sz="1650" b="0" u="none" strike="noStrike">
                <a:solidFill>
                  <a:srgbClr val="FFC000"/>
                </a:solidFill>
                <a:effectLst/>
                <a:uFillTx/>
                <a:latin typeface="PingFang TC"/>
                <a:ea typeface="PingFang TC"/>
              </a:rPr>
              <a:t>LLM </a:t>
            </a:r>
            <a:r>
              <a:rPr lang="zh-CN" sz="1650" b="0" u="none" strike="noStrike">
                <a:solidFill>
                  <a:srgbClr val="FFC000"/>
                </a:solidFill>
                <a:effectLst/>
                <a:uFillTx/>
                <a:latin typeface="PingFang TC"/>
                <a:ea typeface="PingFang TC"/>
              </a:rPr>
              <a:t>抽離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、釘進確定性程式碼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(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自建 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Harness)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以確保可控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;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但這並非唯一解——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Claude Code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「動態規劃 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+ 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落地為確定性程式碼」的混合式思路同樣值得借鏡</a:t>
            </a:r>
            <a:r>
              <a:rPr 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,</a:t>
            </a:r>
            <a:r>
              <a:rPr lang="zh-CN" sz="1650" b="0" u="none" strike="noStrike">
                <a:solidFill>
                  <a:srgbClr val="CFE4F5"/>
                </a:solidFill>
                <a:effectLst/>
                <a:uFillTx/>
                <a:latin typeface="PingFang TC"/>
                <a:ea typeface="PingFang TC"/>
              </a:rPr>
              <a:t>宜依場景彈性選擇。</a:t>
            </a:r>
            <a:endParaRPr lang="en-US" altLang="zh-CN" sz="1650" b="0" u="none" strike="noStrike">
              <a:solidFill>
                <a:srgbClr val="CFE4F5"/>
              </a:solidFill>
              <a:effectLst/>
              <a:uFillTx/>
              <a:latin typeface="PingFang TC"/>
              <a:ea typeface="PingFang TC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199"/>
              </a:spcAft>
              <a:buClr>
                <a:srgbClr val="CFE4F5"/>
              </a:buClr>
              <a:buFont typeface="Symbol" charset="2"/>
              <a:buChar char=""/>
            </a:pPr>
            <a:r>
              <a:rPr lang="zh-CN" altLang="en-US" sz="1650">
                <a:solidFill>
                  <a:srgbClr val="CFE4F5"/>
                </a:solidFill>
                <a:latin typeface="PingFang TC"/>
              </a:rPr>
              <a:t>需求規格仍需以人為主導</a:t>
            </a:r>
            <a:r>
              <a:rPr lang="en-US" altLang="zh-CN" sz="1650">
                <a:solidFill>
                  <a:srgbClr val="CFE4F5"/>
                </a:solidFill>
                <a:latin typeface="PingFang TC"/>
              </a:rPr>
              <a:t>;</a:t>
            </a:r>
            <a:r>
              <a:rPr lang="en" altLang="zh-CN" sz="1650">
                <a:solidFill>
                  <a:srgbClr val="CFE4F5"/>
                </a:solidFill>
                <a:latin typeface="PingFang TC"/>
              </a:rPr>
              <a:t>AI </a:t>
            </a:r>
            <a:r>
              <a:rPr lang="zh-CN" altLang="en-US" sz="1650">
                <a:solidFill>
                  <a:srgbClr val="CFE4F5"/>
                </a:solidFill>
                <a:latin typeface="PingFang TC"/>
              </a:rPr>
              <a:t>的價值在於協助釐清不明確的部分、補強遺漏</a:t>
            </a:r>
            <a:r>
              <a:rPr lang="en-US" altLang="zh-CN" sz="1650">
                <a:solidFill>
                  <a:srgbClr val="CFE4F5"/>
                </a:solidFill>
                <a:latin typeface="PingFang TC"/>
              </a:rPr>
              <a:t>,</a:t>
            </a:r>
            <a:r>
              <a:rPr lang="zh-CN" altLang="en-US" sz="1650">
                <a:solidFill>
                  <a:srgbClr val="CFE4F5"/>
                </a:solidFill>
                <a:latin typeface="PingFang TC"/>
              </a:rPr>
              <a:t>而非從零完整生成。</a:t>
            </a:r>
            <a:endParaRPr lang="en-US" altLang="zh-TW" sz="1650">
              <a:solidFill>
                <a:srgbClr val="CFE4F5"/>
              </a:solidFill>
              <a:latin typeface="PingFang TC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199"/>
              </a:spcAft>
              <a:buClr>
                <a:srgbClr val="CFE4F5"/>
              </a:buClr>
              <a:buFont typeface="Symbol" charset="2"/>
              <a:buChar char=""/>
            </a:pPr>
            <a:r>
              <a:rPr lang="en-US" altLang="zh-TW" sz="1650" b="0" u="none" strike="noStrike">
                <a:solidFill>
                  <a:srgbClr val="CFE4F5"/>
                </a:solidFill>
                <a:effectLst/>
                <a:uFillTx/>
                <a:latin typeface="PingFang TC"/>
              </a:rPr>
              <a:t>AI </a:t>
            </a:r>
            <a:r>
              <a:rPr lang="zh-TW" alt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</a:rPr>
              <a:t>導入應循序漸進、逐步替換</a:t>
            </a:r>
            <a:r>
              <a:rPr lang="en-US" altLang="zh-TW" sz="1650" b="0" u="none" strike="noStrike">
                <a:solidFill>
                  <a:srgbClr val="CFE4F5"/>
                </a:solidFill>
                <a:effectLst/>
                <a:uFillTx/>
                <a:latin typeface="PingFang TC"/>
              </a:rPr>
              <a:t>,</a:t>
            </a:r>
            <a:r>
              <a:rPr lang="zh-TW" altLang="en-US" sz="1650" b="0" u="none" strike="noStrike">
                <a:solidFill>
                  <a:srgbClr val="CFE4F5"/>
                </a:solidFill>
                <a:effectLst/>
                <a:uFillTx/>
                <a:latin typeface="PingFang TC"/>
              </a:rPr>
              <a:t>而非一步到位。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1575</Words>
  <Application>Microsoft Macintosh PowerPoint</Application>
  <PresentationFormat>寬螢幕</PresentationFormat>
  <Paragraphs>226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4" baseType="lpstr">
      <vt:lpstr>PingFang TC</vt:lpstr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樂力專案 — AI 工作流導入現況</dc:title>
  <dc:subject>PptxGenJS Presentation</dc:subject>
  <dc:creator>樂力</dc:creator>
  <dc:description/>
  <cp:lastModifiedBy>黎銘匡</cp:lastModifiedBy>
  <cp:revision>16</cp:revision>
  <dcterms:created xsi:type="dcterms:W3CDTF">2026-06-08T23:38:48Z</dcterms:created>
  <dcterms:modified xsi:type="dcterms:W3CDTF">2026-06-09T05:35:17Z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16</vt:r8>
  </property>
  <property fmtid="{D5CDD505-2E9C-101B-9397-08002B2CF9AE}" pid="3" name="PresentationFormat">
    <vt:lpwstr>On-screen Show (16:9)</vt:lpwstr>
  </property>
  <property fmtid="{D5CDD505-2E9C-101B-9397-08002B2CF9AE}" pid="4" name="Slides">
    <vt:r8>16</vt:r8>
  </property>
</Properties>
</file>